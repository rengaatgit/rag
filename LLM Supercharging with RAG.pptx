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Light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Fira Code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Light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FiraCode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Light-regular.fntdata"/><Relationship Id="rId16" Type="http://schemas.openxmlformats.org/officeDocument/2006/relationships/slide" Target="slides/slide11.xml"/><Relationship Id="rId19" Type="http://schemas.openxmlformats.org/officeDocument/2006/relationships/font" Target="fonts/InterLight-italic.fntdata"/><Relationship Id="rId18" Type="http://schemas.openxmlformats.org/officeDocument/2006/relationships/font" Target="fonts/Inter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11" Type="http://schemas.openxmlformats.org/officeDocument/2006/relationships/image" Target="../media/image18.png"/><Relationship Id="rId10" Type="http://schemas.openxmlformats.org/officeDocument/2006/relationships/image" Target="../media/image14.png"/><Relationship Id="rId12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2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35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39.png"/><Relationship Id="rId6" Type="http://schemas.openxmlformats.org/officeDocument/2006/relationships/image" Target="../media/image33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12615"/>
            <a:ext cx="9001125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LLM Supercharging with RAG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715000" y="4055715"/>
            <a:ext cx="762000" cy="381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379565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 Light"/>
                <a:ea typeface="Inter Light"/>
                <a:cs typeface="Inter Light"/>
                <a:sym typeface="Inter Light"/>
              </a:rPr>
              <a:t>Bridging the Gap Between Foundation Models and Proprietary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76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8811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Understanding the Core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23479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Generative AI (GenAI):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overarching class of AI algorithms capable of creating new content—text, images, audio, or code—based on learned patterns.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3490912"/>
            <a:ext cx="4905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Large Language Models (LLMs):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highly specialized subset of GenAI trained on massive text datasets to understand, translate, and generate human-like language.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49387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Foundation: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Models are trained via next-token prediction, acting as advanced reasoning engines rather than traditional databases.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859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Landscape: GenAI &amp; LLMs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669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099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5776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43100"/>
            <a:ext cx="3492549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943100"/>
            <a:ext cx="3492549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943100"/>
            <a:ext cx="3492549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336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66775" y="33337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OpenAI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004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Pioneers of the modern generative era. Creators of the GPT series (GPT-3, GPT-4), which set the benchmark for conversational AI and reasoning capabilities globally.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336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645074" y="33337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Anthropic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5074" y="38004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AI safety and research company founded by former OpenAI engineers. Focuses on building reliable, interpretable, and steerable AI systems via Constitutional AI.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3362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423374" y="33337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Claude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374" y="3800475"/>
            <a:ext cx="29019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Anthropic's flagship LLM family. Known for industry-leading context windows, nuanced understanding, and reduced hallucination rates compared to peers.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35574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3874" y="25241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Key Players &amp; Ecosystem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6381750" y="20335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Why do we need more?</a:t>
            </a:r>
            <a:endParaRPr/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859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6715125" y="25003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Knowledge Cutoff: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Base LLMs are frozen in time. They cannot access events or information created after their training phase ended (Stale Data).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15125" y="36433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Hallucinations: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When forced to answer questions outside their training data, models often generate plausible-sounding but entirely fabricated responses.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715125" y="47863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Privacy Gap: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Public LLMs have zero visibility into your private corporate documents, internal wikis, or proprietary databases.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Limitation of Base LLMs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5193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6623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80536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571500"/>
            <a:ext cx="550068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 is RAG?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2009775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Retrieval-Augmented Generation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24765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RAG is an architectural framework that bridges the gap between an LLM's static training and your dynamic data.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32766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Instead of relying solely on the model's internal memory, RAG intercepts the user's prompt,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retrieves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highly relevant facts from an external knowledge base, and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augments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prompt with this context.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46863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LLM then acts as a reasoning engine over the provided facts, ensuring accurate, verifiable, and private answers.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9237"/>
            <a:ext cx="3492549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519237"/>
            <a:ext cx="3492549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519237"/>
            <a:ext cx="3492549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1719262"/>
            <a:ext cx="30924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49824" y="1719262"/>
            <a:ext cx="30924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8124" y="1719262"/>
            <a:ext cx="3092499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71525" y="3624262"/>
            <a:ext cx="32471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1. Ingestion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71525" y="4090987"/>
            <a:ext cx="30924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Raw documents (PDFs, Confluence, DBs) are ingested, cleaned, and broken down into smaller, manageable "chunks" of text to maintain specific context.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549824" y="3624262"/>
            <a:ext cx="3247124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2. Embedding &amp; Vector DB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549824" y="4414837"/>
            <a:ext cx="3092499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Chunks are converted into dense mathematical vectors (embeddings) and stored in a Vector Database. This allows for rapid semantic search based on meaning, not just keywords.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328124" y="3624262"/>
            <a:ext cx="32471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3. Retrieve &amp; Generate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328124" y="4090987"/>
            <a:ext cx="3092499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user queries the system. The DB finds the most semantically similar chunks. These chunks are injected into the LLM's prompt to generate a grounded response.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1050" y="1728787"/>
            <a:ext cx="30734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59349" y="1728787"/>
            <a:ext cx="3073449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337649" y="1728787"/>
            <a:ext cx="3073449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414337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Architecture of RAG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71500" y="1119187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24012"/>
            <a:ext cx="5334000" cy="4714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24012"/>
            <a:ext cx="5334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962025" y="201453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Model Context Protocol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62025" y="2481262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Introduced by Anthropic, MCP is an open standard designed to solve the fragmentation of connecting AI models to external tools.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62025" y="3538537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Traditionally, every data source required a custom API integration for an LLM to access it. MCP standardizes this connection.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677025" y="201453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Why MCP Matters for RAG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7010400" y="2481262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Universal Integration: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Build one MCP server, and any supporting LLM (Claude, etc.) can securely access that data source.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7010400" y="3490912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Enhanced Security: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Standardized authentication and access controls for private enterprise data.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7010400" y="4500562"/>
            <a:ext cx="42195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Future-Proofing: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Abstracts away the complexity of tool-calling, making highly advanced agentic RAG setups easier to deploy.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571500" y="519112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Emerging Standards: MCP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71500" y="1223962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25003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50996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519612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81350"/>
            <a:ext cx="1104900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2686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simplified conceptual view of a RAG pipeline using Python: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19150" y="34385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2152650" y="3438525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3581400" y="34385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import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72150" y="3438525"/>
            <a:ext cx="2952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# Hypothetical Vector DB client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820150" y="34385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def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19150" y="3667125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generate_rag_response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2914650" y="3667125"/>
            <a:ext cx="95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user_query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4152900" y="3667125"/>
            <a:ext cx="6477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# 1. Retrieval: Fetch top 3 relevant text chunks from our private DB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3867150" y="3895725"/>
            <a:ext cx="95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user_query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581650" y="38957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19150" y="3895725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# 2. Augmentation: Combine retrieved docs into a context string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2438400" y="41243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"\n\n"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533900" y="4124325"/>
            <a:ext cx="285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for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5295900" y="4124325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in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105650" y="4124325"/>
            <a:ext cx="2286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# 3. Prompt Construction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19150" y="4124325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f"Use the following context to answer the user.\n\nContext:\n{context}\n\nQuestion: {user_query}"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19150" y="4352925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# 4. Generation: Pass the grounded prompt to the LLM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248650" y="4581525"/>
            <a:ext cx="762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"gpt-4o"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10248900" y="45815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"role"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819150" y="48101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"user"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581150" y="4810125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8C379"/>
                </a:solidFill>
                <a:latin typeface="Fira Code"/>
                <a:ea typeface="Fira Code"/>
                <a:cs typeface="Fira Code"/>
                <a:sym typeface="Fira Code"/>
              </a:rPr>
              <a:t>"content"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3676650" y="4810125"/>
            <a:ext cx="571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return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5962650" y="4810125"/>
            <a:ext cx="95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C07B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RAG in Practice: Python Example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881687"/>
            <a:ext cx="110490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0325" y="5881687"/>
            <a:ext cx="1724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676400"/>
            <a:ext cx="110490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1"/>
          <p:cNvSpPr/>
          <p:nvPr/>
        </p:nvSpPr>
        <p:spPr>
          <a:xfrm>
            <a:off x="6410325" y="5886450"/>
            <a:ext cx="190500" cy="190500"/>
          </a:xfrm>
          <a:prstGeom prst="roundRect">
            <a:avLst>
              <a:gd fmla="val 20000" name="adj"/>
            </a:avLst>
          </a:prstGeom>
          <a:noFill/>
          <a:ln cap="flat" cmpd="sng" w="19050">
            <a:solidFill>
              <a:srgbClr val="F4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6696075" y="5881687"/>
            <a:ext cx="1438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 LLM (Static)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Knowledge Accuracy Over Time</a:t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571500" y="127635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295275" y="2537519"/>
            <a:ext cx="1160145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571500" y="383291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Ready to build your first RAG pipeline?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/>
          <p:nvPr/>
        </p:nvSpPr>
        <p:spPr>
          <a:xfrm>
            <a:off x="571500" y="143381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241667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571500" y="320144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571500" y="398621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571500" y="496907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24071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571500" y="24071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571500" y="31919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571500" y="31919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71500" y="3976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71500" y="49595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71500" y="49595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71500" y="57443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71500" y="57443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5" name="Google Shape;26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823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1666875" y="157668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https://img.freepik.com/premium-photo/artificial-intelligence-machine-learning-concept-with-blue-glowing-digital-human-brain-with-convolutions-inside-surrounded-by-neural-net-abstract-dark-background-3d-rendering_670147-11698.jpg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666875" y="20204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660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666875" y="255954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https://png.pngtree.com/png-clipart/20240717/original/pngtree-thinking-robot-png-image_15573149.png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1666875" y="280526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71" name="Google Shape;27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508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1666875" y="334431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https://www.innoflexion.com/storage/2025/10/Gemini_Generated_Image_8j95tw8j95tw8j95.png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1666875" y="359003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www.innoflexion.com</a:t>
            </a:r>
            <a:endParaRPr/>
          </a:p>
        </p:txBody>
      </p:sp>
      <p:pic>
        <p:nvPicPr>
          <p:cNvPr descr="image.png" id="274" name="Google Shape;274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347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1666875" y="412908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https://png.pngtree.com/thumb_back/fw800/background/20251219/pngtree-futuristic-digital-data-center-with-glowing-blue-server-racks-and-abstract-image_20880292.webp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1666875" y="45728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277" name="Google Shape;277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184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>
            <a:off x="1666875" y="51119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https://media.istockphoto.com/id/521576619/vector/icosahedron.jpg?s=612x612&amp;w=0&amp;k=20&amp;c=WbDIenGjV-rLWuJj5GjMxrD9igMZfegyy87ZLSz6g-I=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1666875" y="53576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pic>
        <p:nvPicPr>
          <p:cNvPr descr="image.png" id="280" name="Google Shape;280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9032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 txBox="1"/>
          <p:nvPr/>
        </p:nvSpPr>
        <p:spPr>
          <a:xfrm>
            <a:off x="1666875" y="58967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https://img.freepik.com/premium-photo/creative-ai-interface-blurry-background-artificial-intelligence-innovation-robotics-concept-3d-rendering_670147-60678.jpg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1666875" y="61424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571500" y="32891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284" name="Google Shape;284;p23"/>
          <p:cNvSpPr/>
          <p:nvPr/>
        </p:nvSpPr>
        <p:spPr>
          <a:xfrm>
            <a:off x="571500" y="1033760"/>
            <a:ext cx="1104900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